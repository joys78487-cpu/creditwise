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91695" cy="16459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265615" y="-914400"/>
            <a:ext cx="3200400" cy="32004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80015" y="1280160"/>
            <a:ext cx="1463040" cy="1463040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  <a:latin typeface="Calibri"/>
              </a:rPr>
              <a:t>MACHINE LEARNING PROJECT  •  BCA SEM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5156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6600" b="1" i="0">
                <a:solidFill>
                  <a:srgbClr val="FFFFFF"/>
                </a:solidFill>
                <a:latin typeface="Calibri"/>
              </a:rPr>
              <a:t>CreditWise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2E7D32"/>
                </a:solidFill>
                <a:latin typeface="Calibri"/>
              </a:rPr>
              <a:t>Loan Approval Prediction 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66160"/>
            <a:ext cx="10698480" cy="228600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164592" cy="2286000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794760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PROJECT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20624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900" b="1" i="0">
                <a:solidFill>
                  <a:srgbClr val="212121"/>
                </a:solidFill>
                <a:latin typeface="Calibri"/>
              </a:rPr>
              <a:t>Name:  Joydeep Singh Kalra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7548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900" b="1" i="0">
                <a:solidFill>
                  <a:srgbClr val="212121"/>
                </a:solidFill>
                <a:latin typeface="Calibri"/>
              </a:rPr>
              <a:t>Roll Number:  7309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3035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900" b="1" i="0">
                <a:solidFill>
                  <a:srgbClr val="212121"/>
                </a:solidFill>
                <a:latin typeface="Calibri"/>
              </a:rPr>
              <a:t>Class:  BCA Semester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85216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Predict loan approval / rejection for SecureTrust Bank using ML + Streamlit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550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alibri"/>
              </a:rPr>
              <a:t>End-to-end pipeline: Data Cleaning → EDA → Feature Engineering → Model Comparison → Deployment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  <a:latin typeface="Calibri"/>
              </a:rPr>
              <a:t>SLIDE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Problem Statement &amp; Our Approach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CreditWise  |  Loan Approval Prediction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65615" y="6537960"/>
            <a:ext cx="256032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2E7D32"/>
                </a:solidFill>
                <a:latin typeface="Calibri"/>
              </a:rPr>
              <a:t>Joydeep Singh Kalra  •  7309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5486400" cy="49377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5486400" cy="548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371600"/>
            <a:ext cx="51206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031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2E7D32"/>
                </a:solidFill>
                <a:latin typeface="Calibri"/>
              </a:rPr>
              <a:t>▶  </a:t>
            </a:r>
            <a:r>
              <a:rPr sz="1500">
                <a:solidFill>
                  <a:srgbClr val="212121"/>
                </a:solidFill>
                <a:latin typeface="Calibri"/>
              </a:rPr>
              <a:t>SecureTrust Bank verifies hundreds of loans manually every day.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E7D32"/>
                </a:solidFill>
                <a:latin typeface="Calibri"/>
              </a:rPr>
              <a:t>▶  </a:t>
            </a:r>
            <a:r>
              <a:rPr sz="1500">
                <a:solidFill>
                  <a:srgbClr val="212121"/>
                </a:solidFill>
                <a:latin typeface="Calibri"/>
              </a:rPr>
              <a:t>Process is slow, inconsistent and prone to human bias.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E7D32"/>
                </a:solidFill>
                <a:latin typeface="Calibri"/>
              </a:rPr>
              <a:t>▶  </a:t>
            </a:r>
            <a:r>
              <a:rPr sz="1500">
                <a:solidFill>
                  <a:srgbClr val="212121"/>
                </a:solidFill>
                <a:latin typeface="Calibri"/>
              </a:rPr>
              <a:t>Good customers get rejected → lost business.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E7D32"/>
                </a:solidFill>
                <a:latin typeface="Calibri"/>
              </a:rPr>
              <a:t>▶  </a:t>
            </a:r>
            <a:r>
              <a:rPr sz="1500">
                <a:solidFill>
                  <a:srgbClr val="212121"/>
                </a:solidFill>
                <a:latin typeface="Calibri"/>
              </a:rPr>
              <a:t>High-risk customers get approved → financial losses.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E7D32"/>
                </a:solidFill>
                <a:latin typeface="Calibri"/>
              </a:rPr>
              <a:t>▶  </a:t>
            </a:r>
            <a:r>
              <a:rPr sz="1500">
                <a:solidFill>
                  <a:srgbClr val="212121"/>
                </a:solidFill>
                <a:latin typeface="Calibri"/>
              </a:rPr>
              <a:t>Built an ML model to predict Approve / Reject before human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71600"/>
            <a:ext cx="5486400" cy="4937760"/>
          </a:xfrm>
          <a:prstGeom prst="round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1371600"/>
            <a:ext cx="5486400" cy="548640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371600"/>
            <a:ext cx="51206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212121"/>
                </a:solidFill>
                <a:latin typeface="Calibri"/>
              </a:rPr>
              <a:t>What I Decided To 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031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FFC107"/>
                </a:solidFill>
                <a:latin typeface="Calibri"/>
              </a:rPr>
              <a:t>▶  </a:t>
            </a:r>
            <a:r>
              <a:rPr sz="1500" b="1">
                <a:solidFill>
                  <a:srgbClr val="2E7D32"/>
                </a:solidFill>
                <a:latin typeface="Calibri"/>
              </a:rPr>
              <a:t>Dataset: </a:t>
            </a:r>
            <a:r>
              <a:rPr sz="1500">
                <a:solidFill>
                  <a:srgbClr val="212121"/>
                </a:solidFill>
                <a:latin typeface="Calibri"/>
              </a:rPr>
              <a:t>1,000 applicants × 20 features, ~5% missing values imputed.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FC107"/>
                </a:solidFill>
                <a:latin typeface="Calibri"/>
              </a:rPr>
              <a:t>▶  </a:t>
            </a:r>
            <a:r>
              <a:rPr sz="1500" b="1">
                <a:solidFill>
                  <a:srgbClr val="2E7D32"/>
                </a:solidFill>
                <a:latin typeface="Calibri"/>
              </a:rPr>
              <a:t>Clean &amp; explore: </a:t>
            </a:r>
            <a:r>
              <a:rPr sz="1500">
                <a:solidFill>
                  <a:srgbClr val="212121"/>
                </a:solidFill>
                <a:latin typeface="Calibri"/>
              </a:rPr>
              <a:t>impute, EDA charts, correlation analysis.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FC107"/>
                </a:solidFill>
                <a:latin typeface="Calibri"/>
              </a:rPr>
              <a:t>▶  </a:t>
            </a:r>
            <a:r>
              <a:rPr sz="1500" b="1">
                <a:solidFill>
                  <a:srgbClr val="2E7D32"/>
                </a:solidFill>
                <a:latin typeface="Calibri"/>
              </a:rPr>
              <a:t>Feature engineering: </a:t>
            </a:r>
            <a:r>
              <a:rPr sz="1500">
                <a:solidFill>
                  <a:srgbClr val="212121"/>
                </a:solidFill>
                <a:latin typeface="Calibri"/>
              </a:rPr>
              <a:t>one-hot encoding + squared DTI &amp; Credit Score terms.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FC107"/>
                </a:solidFill>
                <a:latin typeface="Calibri"/>
              </a:rPr>
              <a:t>▶  </a:t>
            </a:r>
            <a:r>
              <a:rPr sz="1500" b="1">
                <a:solidFill>
                  <a:srgbClr val="2E7D32"/>
                </a:solidFill>
                <a:latin typeface="Calibri"/>
              </a:rPr>
              <a:t>Compare 3 models: </a:t>
            </a:r>
            <a:r>
              <a:rPr sz="1500">
                <a:solidFill>
                  <a:srgbClr val="212121"/>
                </a:solidFill>
                <a:latin typeface="Calibri"/>
              </a:rPr>
              <a:t>Logistic Regression, KNN, Naive Bayes.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FC107"/>
                </a:solidFill>
                <a:latin typeface="Calibri"/>
              </a:rPr>
              <a:t>▶  </a:t>
            </a:r>
            <a:r>
              <a:rPr sz="1500" b="1">
                <a:solidFill>
                  <a:srgbClr val="2E7D32"/>
                </a:solidFill>
                <a:latin typeface="Calibri"/>
              </a:rPr>
              <a:t>Deploy: </a:t>
            </a:r>
            <a:r>
              <a:rPr sz="1500">
                <a:solidFill>
                  <a:srgbClr val="212121"/>
                </a:solidFill>
                <a:latin typeface="Calibri"/>
              </a:rPr>
              <a:t>best model on a Streamlit web app for live predictions.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  <a:latin typeface="Calibri"/>
              </a:rPr>
              <a:t>SLIDE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Models &amp; Results — Before Feature Engineering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CreditWise  |  Loan Approval Prediction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65615" y="6537960"/>
            <a:ext cx="256032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2E7D32"/>
                </a:solidFill>
                <a:latin typeface="Calibri"/>
              </a:rPr>
              <a:t>Joydeep Singh Kalra  •  7309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Three classifiers trained on raw cleaned + encoded data (80/20 split, StandardScaler).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82880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1371600"/>
                <a:gridCol w="1371600"/>
                <a:gridCol w="137160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54864" marR="54864" marT="18288" marB="18288">
                    <a:solidFill>
                      <a:srgbClr val="1B5E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anchor="ctr" marL="54864" marR="54864" marT="18288" marB="18288">
                    <a:solidFill>
                      <a:srgbClr val="1B5E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anchor="ctr" marL="54864" marR="54864" marT="18288" marB="18288">
                    <a:solidFill>
                      <a:srgbClr val="1B5E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anchor="ctr" marL="54864" marR="54864" marT="18288" marB="18288">
                    <a:solidFill>
                      <a:srgbClr val="1B5E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F1-Score</a:t>
                      </a:r>
                    </a:p>
                  </a:txBody>
                  <a:tcPr anchor="ctr" marL="54864" marR="54864" marT="18288" marB="18288">
                    <a:solidFill>
                      <a:srgbClr val="1B5E20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12121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 anchor="ctr" marL="54864" marR="54864" marT="18288" marB="18288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  <a:latin typeface="Calibri"/>
                        </a:rPr>
                        <a:t>86.5%</a:t>
                      </a:r>
                    </a:p>
                  </a:txBody>
                  <a:tcPr anchor="ctr" marL="54864" marR="54864" marT="18288" marB="18288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  <a:latin typeface="Calibri"/>
                        </a:rPr>
                        <a:t>0.783</a:t>
                      </a:r>
                    </a:p>
                  </a:txBody>
                  <a:tcPr anchor="ctr" marL="54864" marR="54864" marT="18288" marB="18288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  <a:latin typeface="Calibri"/>
                        </a:rPr>
                        <a:t>0.771</a:t>
                      </a:r>
                    </a:p>
                  </a:txBody>
                  <a:tcPr anchor="ctr" marL="54864" marR="54864" marT="18288" marB="18288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  <a:latin typeface="Calibri"/>
                        </a:rPr>
                        <a:t>0.777</a:t>
                      </a:r>
                    </a:p>
                  </a:txBody>
                  <a:tcPr anchor="ctr" marL="54864" marR="54864" marT="18288" marB="18288">
                    <a:solidFill>
                      <a:srgbClr val="E8F5E9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12121"/>
                          </a:solidFill>
                          <a:latin typeface="Calibri"/>
                        </a:rPr>
                        <a:t>K-Nearest Neighbors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  <a:latin typeface="Calibri"/>
                        </a:rPr>
                        <a:t>76.0%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  <a:latin typeface="Calibri"/>
                        </a:rPr>
                        <a:t>0.628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  <a:latin typeface="Calibri"/>
                        </a:rPr>
                        <a:t>0.525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  <a:latin typeface="Calibri"/>
                        </a:rPr>
                        <a:t>0.571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12121"/>
                          </a:solidFill>
                          <a:latin typeface="Calibri"/>
                        </a:rPr>
                        <a:t>Naive Bayes</a:t>
                      </a:r>
                    </a:p>
                  </a:txBody>
                  <a:tcPr anchor="ctr" marL="54864" marR="54864" marT="18288" marB="18288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  <a:latin typeface="Calibri"/>
                        </a:rPr>
                        <a:t>86.5%</a:t>
                      </a:r>
                    </a:p>
                  </a:txBody>
                  <a:tcPr anchor="ctr" marL="54864" marR="54864" marT="18288" marB="18288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  <a:latin typeface="Calibri"/>
                        </a:rPr>
                        <a:t>0.804</a:t>
                      </a:r>
                    </a:p>
                  </a:txBody>
                  <a:tcPr anchor="ctr" marL="54864" marR="54864" marT="18288" marB="18288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  <a:latin typeface="Calibri"/>
                        </a:rPr>
                        <a:t>0.738</a:t>
                      </a:r>
                    </a:p>
                  </a:txBody>
                  <a:tcPr anchor="ctr" marL="54864" marR="54864" marT="18288" marB="18288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  <a:latin typeface="Calibri"/>
                        </a:rPr>
                        <a:t>0.769</a:t>
                      </a:r>
                    </a:p>
                  </a:txBody>
                  <a:tcPr anchor="ctr" marL="54864" marR="54864" marT="18288" marB="18288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961120" y="1828800"/>
            <a:ext cx="2788920" cy="2377440"/>
          </a:xfrm>
          <a:prstGeom prst="round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0" y="1828800"/>
            <a:ext cx="2788920" cy="502920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828800"/>
            <a:ext cx="25603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212121"/>
                </a:solidFill>
                <a:latin typeface="Calibri"/>
              </a:rPr>
              <a:t>Observation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246888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1">
                <a:solidFill>
                  <a:srgbClr val="2E7D32"/>
                </a:solidFill>
                <a:latin typeface="Calibri"/>
              </a:rPr>
              <a:t>▶  </a:t>
            </a:r>
            <a:r>
              <a:rPr sz="1250">
                <a:solidFill>
                  <a:srgbClr val="212121"/>
                </a:solidFill>
                <a:latin typeface="Calibri"/>
              </a:rPr>
              <a:t>Naive Bayes leads on precision (0.804).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2E7D32"/>
                </a:solidFill>
                <a:latin typeface="Calibri"/>
              </a:rPr>
              <a:t>▶  </a:t>
            </a:r>
            <a:r>
              <a:rPr sz="1250">
                <a:solidFill>
                  <a:srgbClr val="212121"/>
                </a:solidFill>
                <a:latin typeface="Calibri"/>
              </a:rPr>
              <a:t>KNN is clearly the weakest model.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2E7D32"/>
                </a:solidFill>
                <a:latin typeface="Calibri"/>
              </a:rPr>
              <a:t>▶  </a:t>
            </a:r>
            <a:r>
              <a:rPr sz="1250">
                <a:solidFill>
                  <a:srgbClr val="212121"/>
                </a:solidFill>
                <a:latin typeface="Calibri"/>
              </a:rPr>
              <a:t>LR &amp; NB tie on accuracy (86.5%).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80560"/>
            <a:ext cx="11247120" cy="164592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61772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Calibri"/>
              </a:rPr>
              <a:t>Baseline takeaway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2E7D32"/>
                </a:solidFill>
                <a:latin typeface="Calibri"/>
              </a:rPr>
              <a:t>▶  </a:t>
            </a:r>
            <a:r>
              <a:rPr sz="1400">
                <a:solidFill>
                  <a:srgbClr val="212121"/>
                </a:solidFill>
                <a:latin typeface="Calibri"/>
              </a:rPr>
              <a:t>Without engineered features, Logistic Regression and Naive Bayes perform similarly (~86.5% accuracy).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2E7D32"/>
                </a:solidFill>
                <a:latin typeface="Calibri"/>
              </a:rPr>
              <a:t>▶  </a:t>
            </a:r>
            <a:r>
              <a:rPr sz="1400">
                <a:solidFill>
                  <a:srgbClr val="212121"/>
                </a:solidFill>
                <a:latin typeface="Calibri"/>
              </a:rPr>
              <a:t>KNN lags badly — it cannot capture the linear approval boundary well. This motivated feature engineering.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  <a:latin typeface="Calibri"/>
              </a:rPr>
              <a:t>SLIDE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Results After Feature Engineering &amp; Why Logistic Regression Wins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CreditWise  |  Loan Approval Prediction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65615" y="6537960"/>
            <a:ext cx="256032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2E7D32"/>
                </a:solidFill>
                <a:latin typeface="Calibri"/>
              </a:rPr>
              <a:t>Joydeep Singh Kalra  •  7309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Added squared terms:  DTI_Ratio² and Credit_Score²  (captures non-linear effects).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82880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1371600"/>
                <a:gridCol w="1371600"/>
                <a:gridCol w="137160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54864" marR="54864" marT="18288" marB="18288">
                    <a:solidFill>
                      <a:srgbClr val="1B5E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anchor="ctr" marL="54864" marR="54864" marT="18288" marB="18288">
                    <a:solidFill>
                      <a:srgbClr val="1B5E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anchor="ctr" marL="54864" marR="54864" marT="18288" marB="18288">
                    <a:solidFill>
                      <a:srgbClr val="1B5E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anchor="ctr" marL="54864" marR="54864" marT="18288" marB="18288">
                    <a:solidFill>
                      <a:srgbClr val="1B5E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F1-Score</a:t>
                      </a:r>
                    </a:p>
                  </a:txBody>
                  <a:tcPr anchor="ctr" marL="54864" marR="54864" marT="18288" marB="18288">
                    <a:solidFill>
                      <a:srgbClr val="1B5E20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 anchor="ctr" marL="54864" marR="54864" marT="18288" marB="18288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  <a:latin typeface="Calibri"/>
                        </a:rPr>
                        <a:t>87.5%</a:t>
                      </a:r>
                    </a:p>
                  </a:txBody>
                  <a:tcPr anchor="ctr" marL="54864" marR="54864" marT="18288" marB="18288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  <a:latin typeface="Calibri"/>
                        </a:rPr>
                        <a:t>0.790</a:t>
                      </a:r>
                    </a:p>
                  </a:txBody>
                  <a:tcPr anchor="ctr" marL="54864" marR="54864" marT="18288" marB="18288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  <a:latin typeface="Calibri"/>
                        </a:rPr>
                        <a:t>0.803</a:t>
                      </a:r>
                    </a:p>
                  </a:txBody>
                  <a:tcPr anchor="ctr" marL="54864" marR="54864" marT="18288" marB="18288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  <a:latin typeface="Calibri"/>
                        </a:rPr>
                        <a:t>0.797</a:t>
                      </a:r>
                    </a:p>
                  </a:txBody>
                  <a:tcPr anchor="ctr" marL="54864" marR="54864" marT="18288" marB="18288">
                    <a:solidFill>
                      <a:srgbClr val="E8F5E9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12121"/>
                          </a:solidFill>
                          <a:latin typeface="Calibri"/>
                        </a:rPr>
                        <a:t>K-Nearest Neighbors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  <a:latin typeface="Calibri"/>
                        </a:rPr>
                        <a:t>75.5%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  <a:latin typeface="Calibri"/>
                        </a:rPr>
                        <a:t>0.620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  <a:latin typeface="Calibri"/>
                        </a:rPr>
                        <a:t>0.508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  <a:latin typeface="Calibri"/>
                        </a:rPr>
                        <a:t>0.559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12121"/>
                          </a:solidFill>
                          <a:latin typeface="Calibri"/>
                        </a:rPr>
                        <a:t>Naive Bayes</a:t>
                      </a:r>
                    </a:p>
                  </a:txBody>
                  <a:tcPr anchor="ctr" marL="54864" marR="54864" marT="18288" marB="18288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  <a:latin typeface="Calibri"/>
                        </a:rPr>
                        <a:t>86.5%</a:t>
                      </a:r>
                    </a:p>
                  </a:txBody>
                  <a:tcPr anchor="ctr" marL="54864" marR="54864" marT="18288" marB="18288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  <a:latin typeface="Calibri"/>
                        </a:rPr>
                        <a:t>0.783</a:t>
                      </a:r>
                    </a:p>
                  </a:txBody>
                  <a:tcPr anchor="ctr" marL="54864" marR="54864" marT="18288" marB="18288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  <a:latin typeface="Calibri"/>
                        </a:rPr>
                        <a:t>0.771</a:t>
                      </a:r>
                    </a:p>
                  </a:txBody>
                  <a:tcPr anchor="ctr" marL="54864" marR="54864" marT="18288" marB="18288">
                    <a:solidFill>
                      <a:srgbClr val="E8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12121"/>
                          </a:solidFill>
                          <a:latin typeface="Calibri"/>
                        </a:rPr>
                        <a:t>0.777</a:t>
                      </a:r>
                    </a:p>
                  </a:txBody>
                  <a:tcPr anchor="ctr" marL="54864" marR="54864" marT="18288" marB="18288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961120" y="1828800"/>
            <a:ext cx="2788920" cy="2377440"/>
          </a:xfrm>
          <a:prstGeom prst="round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0" y="1828800"/>
            <a:ext cx="2788920" cy="502920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828800"/>
            <a:ext cx="25603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212121"/>
                </a:solidFill>
                <a:latin typeface="Calibri"/>
              </a:rPr>
              <a:t>Best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2514600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2E7D32"/>
                </a:solidFill>
                <a:latin typeface="Calibri"/>
              </a:rPr>
              <a:t>Logistic Regression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0632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2E7D32"/>
                </a:solidFill>
                <a:latin typeface="Calibri"/>
              </a:rPr>
              <a:t>▶  </a:t>
            </a:r>
            <a:r>
              <a:rPr sz="1250">
                <a:solidFill>
                  <a:srgbClr val="212121"/>
                </a:solidFill>
                <a:latin typeface="Calibri"/>
              </a:rPr>
              <a:t>Top accuracy: 87.5%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2E7D32"/>
                </a:solidFill>
                <a:latin typeface="Calibri"/>
              </a:rPr>
              <a:t>▶  </a:t>
            </a:r>
            <a:r>
              <a:rPr sz="1250">
                <a:solidFill>
                  <a:srgbClr val="212121"/>
                </a:solidFill>
                <a:latin typeface="Calibri"/>
              </a:rPr>
              <a:t>Top F1: 0.797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2E7D32"/>
                </a:solidFill>
                <a:latin typeface="Calibri"/>
              </a:rPr>
              <a:t>▶  </a:t>
            </a:r>
            <a:r>
              <a:rPr sz="1250">
                <a:solidFill>
                  <a:srgbClr val="212121"/>
                </a:solidFill>
                <a:latin typeface="Calibri"/>
              </a:rPr>
              <a:t>Recall up to 0.803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480560"/>
            <a:ext cx="11247120" cy="164592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59028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Calibri"/>
              </a:rPr>
              <a:t>Why Logistic Regression was chosen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010912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E7D32"/>
                </a:solidFill>
                <a:latin typeface="Calibri"/>
              </a:rPr>
              <a:t>▶  </a:t>
            </a:r>
            <a:r>
              <a:rPr sz="1400">
                <a:solidFill>
                  <a:srgbClr val="212121"/>
                </a:solidFill>
                <a:latin typeface="Calibri"/>
              </a:rPr>
              <a:t>After feature engineering it posts the best accuracy (87.5%) AND best F1 (0.797) of all three.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E7D32"/>
                </a:solidFill>
                <a:latin typeface="Calibri"/>
              </a:rPr>
              <a:t>▶  </a:t>
            </a:r>
            <a:r>
              <a:rPr sz="1400">
                <a:solidFill>
                  <a:srgbClr val="212121"/>
                </a:solidFill>
                <a:latin typeface="Calibri"/>
              </a:rPr>
              <a:t>Strongest balance of precision &amp; recall — catches more approvable applicants without approving risky ones.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E7D32"/>
                </a:solidFill>
                <a:latin typeface="Calibri"/>
              </a:rPr>
              <a:t>▶  </a:t>
            </a:r>
            <a:r>
              <a:rPr sz="1400">
                <a:solidFill>
                  <a:srgbClr val="212121"/>
                </a:solidFill>
                <a:latin typeface="Calibri"/>
              </a:rPr>
              <a:t>Fast, interpretable and lightweight — ideal for real-time Streamlit deployment.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  <a:latin typeface="Calibri"/>
              </a:rPr>
              <a:t>SLIDE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60350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Deployment — CreditWise on Streamlit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CreditWise  |  Loan Approval Prediction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65615" y="6537960"/>
            <a:ext cx="256032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1" i="0">
                <a:solidFill>
                  <a:srgbClr val="2E7D32"/>
                </a:solidFill>
                <a:latin typeface="Calibri"/>
              </a:rPr>
              <a:t>Joydeep Singh Kalra  •  7309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5486400" cy="49377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5486400" cy="548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371600"/>
            <a:ext cx="51206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What Was Deployed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031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2E7D32"/>
                </a:solidFill>
                <a:latin typeface="Calibri"/>
              </a:rPr>
              <a:t>▶  </a:t>
            </a:r>
            <a:r>
              <a:rPr sz="1500" b="1">
                <a:solidFill>
                  <a:srgbClr val="2E7D32"/>
                </a:solidFill>
                <a:latin typeface="Calibri"/>
              </a:rPr>
              <a:t>Model: </a:t>
            </a:r>
            <a:r>
              <a:rPr sz="1500">
                <a:solidFill>
                  <a:srgbClr val="212121"/>
                </a:solidFill>
                <a:latin typeface="Calibri"/>
              </a:rPr>
              <a:t>Logistic Regression (after feature engineering).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2E7D32"/>
                </a:solidFill>
                <a:latin typeface="Calibri"/>
              </a:rPr>
              <a:t>▶  </a:t>
            </a:r>
            <a:r>
              <a:rPr sz="1500" b="1">
                <a:solidFill>
                  <a:srgbClr val="2E7D32"/>
                </a:solidFill>
                <a:latin typeface="Calibri"/>
              </a:rPr>
              <a:t>Live app: </a:t>
            </a:r>
            <a:r>
              <a:rPr sz="1500">
                <a:solidFill>
                  <a:srgbClr val="212121"/>
                </a:solidFill>
                <a:latin typeface="Calibri"/>
              </a:rPr>
              <a:t>users enter applicant details in a sidebar form.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2E7D32"/>
                </a:solidFill>
                <a:latin typeface="Calibri"/>
              </a:rPr>
              <a:t>▶  </a:t>
            </a:r>
            <a:r>
              <a:rPr sz="1500" b="1">
                <a:solidFill>
                  <a:srgbClr val="2E7D32"/>
                </a:solidFill>
                <a:latin typeface="Calibri"/>
              </a:rPr>
              <a:t>Engineered inputs: </a:t>
            </a:r>
            <a:r>
              <a:rPr sz="1500">
                <a:solidFill>
                  <a:srgbClr val="212121"/>
                </a:solidFill>
                <a:latin typeface="Calibri"/>
              </a:rPr>
              <a:t>DTI_Ratio² &amp; Credit_Score² built at predict time.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2E7D32"/>
                </a:solidFill>
                <a:latin typeface="Calibri"/>
              </a:rPr>
              <a:t>▶  </a:t>
            </a:r>
            <a:r>
              <a:rPr sz="1500" b="1">
                <a:solidFill>
                  <a:srgbClr val="2E7D32"/>
                </a:solidFill>
                <a:latin typeface="Calibri"/>
              </a:rPr>
              <a:t>Output: </a:t>
            </a:r>
            <a:r>
              <a:rPr sz="1500">
                <a:solidFill>
                  <a:srgbClr val="212121"/>
                </a:solidFill>
                <a:latin typeface="Calibri"/>
              </a:rPr>
              <a:t>Approved / Rejected + approval probability %.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2E7D32"/>
                </a:solidFill>
                <a:latin typeface="Calibri"/>
              </a:rPr>
              <a:t>▶  </a:t>
            </a:r>
            <a:r>
              <a:rPr sz="1500" b="1">
                <a:solidFill>
                  <a:srgbClr val="2E7D32"/>
                </a:solidFill>
                <a:latin typeface="Calibri"/>
              </a:rPr>
              <a:t>On-screen: </a:t>
            </a:r>
            <a:r>
              <a:rPr sz="1500">
                <a:solidFill>
                  <a:srgbClr val="212121"/>
                </a:solidFill>
                <a:latin typeface="Calibri"/>
              </a:rPr>
              <a:t>model metrics (acc/precision/recall/f1) &amp; confusion matrix.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71600"/>
            <a:ext cx="5486400" cy="2286000"/>
          </a:xfrm>
          <a:prstGeom prst="round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1371600"/>
            <a:ext cx="5486400" cy="548640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371600"/>
            <a:ext cx="51206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212121"/>
                </a:solidFill>
                <a:latin typeface="Calibri"/>
              </a:rPr>
              <a:t>Live Prediction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48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2E7D32"/>
                </a:solidFill>
                <a:latin typeface="Calibri"/>
              </a:rPr>
              <a:t>▶  </a:t>
            </a:r>
            <a:r>
              <a:rPr sz="1500">
                <a:solidFill>
                  <a:srgbClr val="212121"/>
                </a:solidFill>
                <a:latin typeface="Calibri"/>
              </a:rPr>
              <a:t>Input → Impute → One-Hot Encode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2E7D32"/>
                </a:solidFill>
                <a:latin typeface="Calibri"/>
              </a:rPr>
              <a:t>▶  </a:t>
            </a:r>
            <a:r>
              <a:rPr sz="1500">
                <a:solidFill>
                  <a:srgbClr val="212121"/>
                </a:solidFill>
                <a:latin typeface="Calibri"/>
              </a:rPr>
              <a:t>Feature Engineering (squared terms)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2E7D32"/>
                </a:solidFill>
                <a:latin typeface="Calibri"/>
              </a:rPr>
              <a:t>▶  </a:t>
            </a:r>
            <a:r>
              <a:rPr sz="1500">
                <a:solidFill>
                  <a:srgbClr val="212121"/>
                </a:solidFill>
                <a:latin typeface="Calibri"/>
              </a:rPr>
              <a:t>Scale → Logistic Regression → Result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840480"/>
            <a:ext cx="5486400" cy="246888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977639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Calibri"/>
              </a:rPr>
              <a:t>Deployed Model Performance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4434840"/>
            <a:ext cx="1280160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0" y="4434840"/>
            <a:ext cx="1280160" cy="1097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599432"/>
            <a:ext cx="128016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 i="0">
                <a:solidFill>
                  <a:srgbClr val="2E7D32"/>
                </a:solidFill>
                <a:latin typeface="Calibri"/>
              </a:rPr>
              <a:t>0.875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120640"/>
            <a:ext cx="1280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Accuracy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82128" y="4434840"/>
            <a:ext cx="1280160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82128" y="4434840"/>
            <a:ext cx="1280160" cy="1097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82128" y="4599432"/>
            <a:ext cx="128016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 i="0">
                <a:solidFill>
                  <a:srgbClr val="2E7D32"/>
                </a:solidFill>
                <a:latin typeface="Calibri"/>
              </a:rPr>
              <a:t>0.790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82128" y="5120640"/>
            <a:ext cx="1280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Precision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72016" y="4434840"/>
            <a:ext cx="1280160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72016" y="4434840"/>
            <a:ext cx="1280160" cy="1097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72016" y="4599432"/>
            <a:ext cx="128016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 i="0">
                <a:solidFill>
                  <a:srgbClr val="2E7D32"/>
                </a:solidFill>
                <a:latin typeface="Calibri"/>
              </a:rPr>
              <a:t>0.803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72016" y="5120640"/>
            <a:ext cx="1280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Recall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661904" y="4434840"/>
            <a:ext cx="1280160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661904" y="4434840"/>
            <a:ext cx="1280160" cy="1097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61904" y="4599432"/>
            <a:ext cx="128016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 i="0">
                <a:solidFill>
                  <a:srgbClr val="2E7D32"/>
                </a:solidFill>
                <a:latin typeface="Calibri"/>
              </a:rPr>
              <a:t>0.797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61904" y="5120640"/>
            <a:ext cx="1280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F1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669280"/>
            <a:ext cx="51206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1">
                <a:solidFill>
                  <a:srgbClr val="2E7D32"/>
                </a:solidFill>
                <a:latin typeface="Calibri"/>
              </a:rPr>
              <a:t>App file: app.py  •  Run: streamlit run app.py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